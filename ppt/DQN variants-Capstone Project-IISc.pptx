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iRcWQOwZfnf3wZ7PcV7vgXRdj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0DD46D-C249-490B-A00C-108B6895D2B3}">
  <a:tblStyle styleId="{240DD46D-C249-490B-A00C-108B6895D2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F475F58-0557-4A96-8F34-FAF842EC6A0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a64adcf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aa64adcf7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a64adcf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aa64adcf78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64adcf78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a64adcf78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64adcf78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a64adcf7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837d0bd6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a837d0bd64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adf4b83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aaadf4b83a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adf4b83a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aaadf4b83a_2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37d0bd6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a837d0bd64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a3738c3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9a3738c3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837d0bd64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a837d0bd64_1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93381a65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a93381a652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93381a65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a93381a652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8f4d26d2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3a8f4d26d27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134df5ee_5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a134df5ee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aadf4b83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aaadf4b83a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837d0bd64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a837d0bd64_1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WQHMbibpJDDzvIvZHZhvsfqd3TeSR-pH/view" TargetMode="External"/><Relationship Id="rId5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://drive.google.com/file/d/1pt05jV_W-NkpbWGtHc2DPy6hA0SqjLkm/view" TargetMode="External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i-autonomous.streamlit.app/" TargetMode="External"/><Relationship Id="rId4" Type="http://schemas.openxmlformats.org/officeDocument/2006/relationships/hyperlink" Target="https://ai-autonomous.streamlit.app/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https://ai-autonomous.streamlit.app/" TargetMode="External"/><Relationship Id="rId8" Type="http://schemas.openxmlformats.org/officeDocument/2006/relationships/hyperlink" Target="https://github.com/ai-autonomous/dqn-projec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hyperlink" Target="https://gymnasium.farama.org/environments/classic_control/cart_pole/" TargetMode="External"/><Relationship Id="rId10" Type="http://schemas.openxmlformats.org/officeDocument/2006/relationships/hyperlink" Target="https://arxiv.org/abs/1509.06461" TargetMode="External"/><Relationship Id="rId13" Type="http://schemas.openxmlformats.org/officeDocument/2006/relationships/hyperlink" Target="https://github.com/hakuhodo-technologies/scope-rl" TargetMode="External"/><Relationship Id="rId12" Type="http://schemas.openxmlformats.org/officeDocument/2006/relationships/hyperlink" Target="https://gymnasium.farama.org/environments/box2d/lunar_lander/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hyperlink" Target="https://github.com/ai-autonomous/dqn-project" TargetMode="External"/><Relationship Id="rId9" Type="http://schemas.openxmlformats.org/officeDocument/2006/relationships/hyperlink" Target="https://stable-baselines3.readthedocs.io/en/master/modules/dqn.html#module-stable_baselines3.dqn" TargetMode="External"/><Relationship Id="rId14" Type="http://schemas.openxmlformats.org/officeDocument/2006/relationships/hyperlink" Target="https://arxiv.org/abs/1101.2883" TargetMode="External"/><Relationship Id="rId5" Type="http://schemas.openxmlformats.org/officeDocument/2006/relationships/hyperlink" Target="https://ai-autonomous.streamlit.app/" TargetMode="External"/><Relationship Id="rId6" Type="http://schemas.openxmlformats.org/officeDocument/2006/relationships/hyperlink" Target="https://github.com/ai-autonomous/dqn-project/actions" TargetMode="External"/><Relationship Id="rId7" Type="http://schemas.openxmlformats.org/officeDocument/2006/relationships/hyperlink" Target="https://github.com/ai-autonomous/dqn-project/blob/main/.github/workflows/train-rl-runner.yml" TargetMode="External"/><Relationship Id="rId8" Type="http://schemas.openxmlformats.org/officeDocument/2006/relationships/hyperlink" Target="https://docs.pytorch.org/tutorials/intermediate/reinforcement_q_learning.htm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073425" y="1540575"/>
            <a:ext cx="103614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700"/>
              <a:t>A Study on Variants of Deep Q-Learning Algorithm</a:t>
            </a:r>
            <a:endParaRPr sz="4700"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334" y="635689"/>
            <a:ext cx="64770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154875" y="3624925"/>
            <a:ext cx="9609900" cy="30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</a:rPr>
              <a:t>Presentation</a:t>
            </a: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</a:rPr>
              <a:t> by</a:t>
            </a:r>
            <a:endParaRPr sz="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Vikrant Kalidas Wadhavankar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Sayali Mahajan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Gaurav Jha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Deepesh Ahuja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Amit Ojha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>
                <a:solidFill>
                  <a:srgbClr val="222222"/>
                </a:solidFill>
                <a:highlight>
                  <a:srgbClr val="FFFFFF"/>
                </a:highlight>
              </a:rPr>
              <a:t>Mentored by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>
                <a:solidFill>
                  <a:srgbClr val="222222"/>
                </a:solidFill>
                <a:highlight>
                  <a:srgbClr val="FFFFFF"/>
                </a:highlight>
              </a:rPr>
              <a:t>Prof. Ambedkar Dukkipati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a64adcf78_0_0"/>
          <p:cNvSpPr txBox="1"/>
          <p:nvPr>
            <p:ph type="title"/>
          </p:nvPr>
        </p:nvSpPr>
        <p:spPr>
          <a:xfrm>
            <a:off x="695100" y="241450"/>
            <a:ext cx="10515600" cy="55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9"/>
              <a:t>Agenda</a:t>
            </a:r>
            <a:endParaRPr sz="3559"/>
          </a:p>
        </p:txBody>
      </p:sp>
      <p:sp>
        <p:nvSpPr>
          <p:cNvPr id="92" name="Google Shape;92;g3aa64adcf78_0_0"/>
          <p:cNvSpPr txBox="1"/>
          <p:nvPr/>
        </p:nvSpPr>
        <p:spPr>
          <a:xfrm>
            <a:off x="695100" y="1148475"/>
            <a:ext cx="10658700" cy="4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Algorithms </a:t>
            </a:r>
            <a:endParaRPr b="1" sz="20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-US" sz="1500"/>
              <a:t>DQN, Double DQN, Dueling DQN</a:t>
            </a:r>
            <a:endParaRPr sz="15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Environments</a:t>
            </a:r>
            <a:endParaRPr b="1" sz="20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-US" sz="1500">
                <a:solidFill>
                  <a:schemeClr val="dk1"/>
                </a:solidFill>
              </a:rPr>
              <a:t>Cartpole-v1, </a:t>
            </a:r>
            <a:r>
              <a:rPr lang="en-US" sz="1500"/>
              <a:t>LunarLander-v3, RecGym</a:t>
            </a:r>
            <a:endParaRPr sz="15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Implementation </a:t>
            </a:r>
            <a:endParaRPr b="1" sz="20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-US" sz="1500"/>
              <a:t>Code</a:t>
            </a:r>
            <a:r>
              <a:rPr lang="en-US" sz="1500"/>
              <a:t> 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-US" sz="1500"/>
              <a:t>Resource</a:t>
            </a:r>
            <a:r>
              <a:rPr lang="en-US" sz="1500"/>
              <a:t> </a:t>
            </a:r>
            <a:r>
              <a:rPr b="1" lang="en-US" sz="1500"/>
              <a:t>Footprints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-US" sz="1500"/>
              <a:t>GitHub</a:t>
            </a:r>
            <a:r>
              <a:rPr lang="en-US" sz="1500"/>
              <a:t> (Code, </a:t>
            </a:r>
            <a:r>
              <a:rPr lang="en-US" sz="1500">
                <a:solidFill>
                  <a:schemeClr val="dk1"/>
                </a:solidFill>
              </a:rPr>
              <a:t>GitAction, Workflow</a:t>
            </a:r>
            <a:r>
              <a:rPr lang="en-US" sz="1500"/>
              <a:t>) &amp; </a:t>
            </a:r>
            <a:r>
              <a:rPr b="1" lang="en-US" sz="1500"/>
              <a:t>Streamlit</a:t>
            </a:r>
            <a:r>
              <a:rPr lang="en-US" sz="1500"/>
              <a:t> (App hosting, Dashboard) </a:t>
            </a:r>
            <a:endParaRPr sz="15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Inferences</a:t>
            </a:r>
            <a:endParaRPr b="1" sz="20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lang="en-US" sz="1500"/>
              <a:t>Result </a:t>
            </a:r>
            <a:r>
              <a:rPr lang="en-US" sz="1500"/>
              <a:t>Summary, Graph, I</a:t>
            </a:r>
            <a:r>
              <a:rPr lang="en-US" sz="1500"/>
              <a:t>nferences</a:t>
            </a:r>
            <a:endParaRPr sz="15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References</a:t>
            </a:r>
            <a:endParaRPr sz="15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-US" sz="2000"/>
              <a:t>Q&amp;A</a:t>
            </a:r>
            <a:endParaRPr b="1" sz="20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64adcf78_0_14"/>
          <p:cNvSpPr txBox="1"/>
          <p:nvPr>
            <p:ph type="title"/>
          </p:nvPr>
        </p:nvSpPr>
        <p:spPr>
          <a:xfrm>
            <a:off x="453475" y="311725"/>
            <a:ext cx="10515600" cy="53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50"/>
              <a:t>Deep Q-Learning</a:t>
            </a:r>
            <a:endParaRPr sz="3950"/>
          </a:p>
        </p:txBody>
      </p:sp>
      <p:sp>
        <p:nvSpPr>
          <p:cNvPr id="98" name="Google Shape;98;g3aa64adcf78_0_14"/>
          <p:cNvSpPr txBox="1"/>
          <p:nvPr/>
        </p:nvSpPr>
        <p:spPr>
          <a:xfrm>
            <a:off x="453475" y="3574125"/>
            <a:ext cx="5404800" cy="22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Deep Q-Learning (DQL)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Extends traditional </a:t>
            </a:r>
            <a:r>
              <a:rPr b="1" lang="en-US" sz="1500">
                <a:solidFill>
                  <a:schemeClr val="dk1"/>
                </a:solidFill>
              </a:rPr>
              <a:t>Q-learning </a:t>
            </a:r>
            <a:r>
              <a:rPr lang="en-US" sz="1500">
                <a:solidFill>
                  <a:schemeClr val="dk1"/>
                </a:solidFill>
              </a:rPr>
              <a:t>u</a:t>
            </a:r>
            <a:r>
              <a:rPr lang="en-US" sz="1500">
                <a:solidFill>
                  <a:schemeClr val="dk1"/>
                </a:solidFill>
              </a:rPr>
              <a:t>sing </a:t>
            </a:r>
            <a:r>
              <a:rPr b="1" lang="en-US" sz="1500">
                <a:solidFill>
                  <a:schemeClr val="dk1"/>
                </a:solidFill>
              </a:rPr>
              <a:t>Deep Neural Network</a:t>
            </a:r>
            <a:r>
              <a:rPr lang="en-US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to estimate the Q-value function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Handles large environments with </a:t>
            </a:r>
            <a:r>
              <a:rPr b="1" lang="en-US" sz="1500">
                <a:solidFill>
                  <a:schemeClr val="dk1"/>
                </a:solidFill>
              </a:rPr>
              <a:t>continuous state spaces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Learning </a:t>
            </a:r>
            <a:r>
              <a:rPr b="1" lang="en-US" sz="1500">
                <a:solidFill>
                  <a:schemeClr val="dk1"/>
                </a:solidFill>
              </a:rPr>
              <a:t>nonlinear patterns</a:t>
            </a:r>
            <a:r>
              <a:rPr lang="en-US" sz="1500">
                <a:solidFill>
                  <a:schemeClr val="dk1"/>
                </a:solidFill>
              </a:rPr>
              <a:t> from raw observations.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Scalable, generalizable, and practical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9" name="Google Shape;99;g3aa64adcf78_0_14"/>
          <p:cNvSpPr txBox="1"/>
          <p:nvPr/>
        </p:nvSpPr>
        <p:spPr>
          <a:xfrm>
            <a:off x="453475" y="1153363"/>
            <a:ext cx="5717400" cy="18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Q-learning - Limitation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Can't handle v</a:t>
            </a:r>
            <a:r>
              <a:rPr lang="en-US" sz="1500">
                <a:solidFill>
                  <a:schemeClr val="dk1"/>
                </a:solidFill>
              </a:rPr>
              <a:t>ery Large state space (viz images, physics simulations, robotics).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I</a:t>
            </a:r>
            <a:r>
              <a:rPr b="1" lang="en-US" sz="1500">
                <a:solidFill>
                  <a:schemeClr val="dk1"/>
                </a:solidFill>
              </a:rPr>
              <a:t>mpossible to store</a:t>
            </a:r>
            <a:r>
              <a:rPr lang="en-US" sz="1500">
                <a:solidFill>
                  <a:schemeClr val="dk1"/>
                </a:solidFill>
              </a:rPr>
              <a:t> (millions of combinations) in </a:t>
            </a:r>
            <a:r>
              <a:rPr lang="en-US" sz="1500">
                <a:solidFill>
                  <a:schemeClr val="dk1"/>
                </a:solidFill>
              </a:rPr>
              <a:t>Q-tables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Real-world tasks require </a:t>
            </a:r>
            <a:r>
              <a:rPr b="1" lang="en-US" sz="1500">
                <a:solidFill>
                  <a:schemeClr val="dk1"/>
                </a:solidFill>
              </a:rPr>
              <a:t>function approximation</a:t>
            </a:r>
            <a:r>
              <a:rPr lang="en-US" sz="1500">
                <a:solidFill>
                  <a:schemeClr val="dk1"/>
                </a:solidFill>
              </a:rPr>
              <a:t>, not lookup tables.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0" name="Google Shape;100;g3aa64adcf78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0638" y="3574125"/>
            <a:ext cx="4364050" cy="28716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1" name="Google Shape;101;g3aa64adcf78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7575" y="1366875"/>
            <a:ext cx="4470176" cy="1683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64adcf78_2_1"/>
          <p:cNvSpPr txBox="1"/>
          <p:nvPr>
            <p:ph type="title"/>
          </p:nvPr>
        </p:nvSpPr>
        <p:spPr>
          <a:xfrm>
            <a:off x="725775" y="365125"/>
            <a:ext cx="10515600" cy="35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9"/>
              <a:t>Double Deep Q-Network Learning Process</a:t>
            </a:r>
            <a:endParaRPr sz="3559"/>
          </a:p>
        </p:txBody>
      </p:sp>
      <p:pic>
        <p:nvPicPr>
          <p:cNvPr id="107" name="Google Shape;107;g3aa64adcf78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775" y="1253840"/>
            <a:ext cx="10882225" cy="45580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64adcf78_1_29"/>
          <p:cNvSpPr txBox="1"/>
          <p:nvPr>
            <p:ph idx="1" type="body"/>
          </p:nvPr>
        </p:nvSpPr>
        <p:spPr>
          <a:xfrm>
            <a:off x="690000" y="1033100"/>
            <a:ext cx="10812000" cy="569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890"/>
              <a:buFont typeface="Arial"/>
              <a:buNone/>
            </a:pPr>
            <a:r>
              <a:rPr b="1" lang="en-US" sz="2981"/>
              <a:t>DQN (Deep Q-Network)</a:t>
            </a:r>
            <a:endParaRPr b="1" sz="298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Uses one network to select &amp; evaluate actions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Overestimates Q-values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Q(s,a) = r + γ max Q(s’, a’)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890"/>
              <a:buFont typeface="Arial"/>
              <a:buNone/>
            </a:pPr>
            <a:r>
              <a:rPr b="1" lang="en-US" sz="2981"/>
              <a:t>DDQN (Double DQN)</a:t>
            </a:r>
            <a:endParaRPr b="1" sz="298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Uses two networks: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– Main selects action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– Target evaluates selected action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Fixes overestimation bias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Q(s,a) = r + γ Q_target(s’, argmax Q_main(s’, a’))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6890"/>
              <a:buFont typeface="Arial"/>
              <a:buNone/>
            </a:pPr>
            <a:r>
              <a:rPr b="1" lang="en-US" sz="2981"/>
              <a:t>Dueling DQN</a:t>
            </a:r>
            <a:endParaRPr b="1" sz="298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New architecture with two streams: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– Value V(s)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   – Advantage A(s,a)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Q(s,a) = V(s) + (A(s,a) – mean(A))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• Better for states where actions don’t matter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3" name="Google Shape;113;g3aa64adcf78_1_29"/>
          <p:cNvGraphicFramePr/>
          <p:nvPr/>
        </p:nvGraphicFramePr>
        <p:xfrm>
          <a:off x="6060575" y="1033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{240DD46D-C249-490B-A00C-108B6895D2B3}</a:tableStyleId>
              </a:tblPr>
              <a:tblGrid>
                <a:gridCol w="1437650"/>
                <a:gridCol w="1437650"/>
                <a:gridCol w="1437650"/>
                <a:gridCol w="1437650"/>
              </a:tblGrid>
              <a:tr h="72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b="1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DQN</a:t>
                      </a:r>
                      <a:endParaRPr b="1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DDQN</a:t>
                      </a:r>
                      <a:endParaRPr b="1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6C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Dueling</a:t>
                      </a:r>
                      <a:endParaRPr b="1" sz="135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6CAF"/>
                    </a:solidFill>
                  </a:tcPr>
                </a:tc>
              </a:tr>
              <a:tr h="72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Overestimation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Low*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</a:tr>
              <a:tr h="728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7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 + Advantage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7F1"/>
                    </a:solidFill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Stability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⭐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⭐⭐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⭐⭐⭐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Selection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Same Network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Main Network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Same as DQN/DDQN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 Evaluation</a:t>
                      </a:r>
                      <a:endParaRPr sz="135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Same Network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Target Network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Value + Advantage</a:t>
                      </a:r>
                      <a:endParaRPr sz="1350"/>
                    </a:p>
                  </a:txBody>
                  <a:tcPr marT="34300" marB="34300" marR="34300" marL="343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CEE1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g3aa64adcf78_1_29"/>
          <p:cNvSpPr txBox="1"/>
          <p:nvPr>
            <p:ph type="title"/>
          </p:nvPr>
        </p:nvSpPr>
        <p:spPr>
          <a:xfrm>
            <a:off x="690000" y="166125"/>
            <a:ext cx="10515600" cy="56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Variants of DQN Algorithm</a:t>
            </a:r>
            <a:endParaRPr sz="35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37d0bd64_1_18"/>
          <p:cNvSpPr txBox="1"/>
          <p:nvPr>
            <p:ph type="title"/>
          </p:nvPr>
        </p:nvSpPr>
        <p:spPr>
          <a:xfrm>
            <a:off x="647075" y="388725"/>
            <a:ext cx="10515600" cy="60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ENVIRONMENT - CartPole -v1</a:t>
            </a:r>
            <a:endParaRPr sz="3550"/>
          </a:p>
        </p:txBody>
      </p:sp>
      <p:sp>
        <p:nvSpPr>
          <p:cNvPr id="120" name="Google Shape;120;g3a837d0bd64_1_18"/>
          <p:cNvSpPr txBox="1"/>
          <p:nvPr>
            <p:ph idx="1" type="body"/>
          </p:nvPr>
        </p:nvSpPr>
        <p:spPr>
          <a:xfrm>
            <a:off x="647075" y="1402625"/>
            <a:ext cx="7155300" cy="5160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latin typeface="Arial"/>
                <a:ea typeface="Arial"/>
                <a:cs typeface="Arial"/>
                <a:sym typeface="Arial"/>
              </a:rPr>
              <a:t>CartPole Overview</a:t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Fully observable 4-dim continuous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(position, velocity, angle, angular velocity)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Discrete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push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Right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: +1 per timestep balanced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Episode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ends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if pole falls or cart exits bounds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Serves as the canonical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sanity-check environment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for value-based RL.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381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Action Space</a:t>
            </a:r>
            <a:r>
              <a:rPr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Push cart to the left  </a:t>
            </a:r>
            <a:r>
              <a:rPr b="1"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Push cart to the right</a:t>
            </a:r>
            <a:endParaRPr sz="1500">
              <a:solidFill>
                <a:srgbClr val="20212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381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Observation Space</a:t>
            </a:r>
            <a:r>
              <a:rPr lang="en-US" sz="1500">
                <a:solidFill>
                  <a:srgbClr val="20212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1500">
                <a:highlight>
                  <a:srgbClr val="F8F9FB"/>
                </a:highlight>
                <a:latin typeface="Arial"/>
                <a:ea typeface="Arial"/>
                <a:cs typeface="Arial"/>
                <a:sym typeface="Arial"/>
              </a:rPr>
              <a:t>Box([-4.8 -inf -0.41887903 -inf], [4.8 inf 0.41887903 inf], (4,), float32)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 u="sng">
                <a:latin typeface="Arial"/>
                <a:ea typeface="Arial"/>
                <a:cs typeface="Arial"/>
                <a:sym typeface="Arial"/>
              </a:rPr>
              <a:t>Why Cart</a:t>
            </a:r>
            <a:r>
              <a:rPr b="1" lang="en-US" sz="1500" u="sng"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lang="en-US" sz="1500" u="sng">
                <a:latin typeface="Arial"/>
                <a:ea typeface="Arial"/>
                <a:cs typeface="Arial"/>
                <a:sym typeface="Arial"/>
              </a:rPr>
              <a:t>ole for DQN Family?</a:t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Perfect diagnostic sandbox for Q-learning stability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Small state space → highlights overestimation bias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Fast training → reveals differences between DQN / DDQN /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Dueling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Discrete actions → ideal match for value-based methods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a837d0bd64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600" y="1402625"/>
            <a:ext cx="4155000" cy="2011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2" name="Google Shape;122;g3a837d0bd64_1_18" title="cartpole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84600" y="3566725"/>
            <a:ext cx="4155000" cy="26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adf4b83a_2_0"/>
          <p:cNvSpPr txBox="1"/>
          <p:nvPr>
            <p:ph type="title"/>
          </p:nvPr>
        </p:nvSpPr>
        <p:spPr>
          <a:xfrm>
            <a:off x="646875" y="321100"/>
            <a:ext cx="10515600" cy="58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ENVIRONMENT - LunarLander-v3</a:t>
            </a:r>
            <a:endParaRPr sz="3550"/>
          </a:p>
        </p:txBody>
      </p:sp>
      <p:pic>
        <p:nvPicPr>
          <p:cNvPr id="128" name="Google Shape;128;g3aaadf4b83a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0650" y="1333300"/>
            <a:ext cx="4442475" cy="23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aadf4b83a_2_0"/>
          <p:cNvSpPr txBox="1"/>
          <p:nvPr>
            <p:ph idx="1" type="body"/>
          </p:nvPr>
        </p:nvSpPr>
        <p:spPr>
          <a:xfrm>
            <a:off x="506350" y="1333300"/>
            <a:ext cx="6450000" cy="5289300"/>
          </a:xfrm>
          <a:prstGeom prst="rect">
            <a:avLst/>
          </a:prstGeom>
          <a:noFill/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Overview -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A physics-based task where a lander must descend, stabilize, and touch down between flags.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State &amp; Actions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State (8D):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position, velocity, angle, angular velocity, leg contact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Actions: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idle (0), left (1), main (2), right (3) thruster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Dynamics &amp; Rewards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Gravity −10 m/s², realistic thrust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+100–140 for soft landing, −100 for crash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Shaping for stability, orientation, leg contact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Small penalties for thrust usage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Why It Fits DQN / DDQN / Dueling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Discrete actions suit value-based RL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Non-linear physics reveals Q-overestimation → DDQN helps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Reward shaping + long-horizon control benefit Dueling/N-step/PER approaches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aaadf4b83a_2_0" title="best_landing_best-episode-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725" y="3775800"/>
            <a:ext cx="4377401" cy="28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aadf4b83a_2_8"/>
          <p:cNvSpPr txBox="1"/>
          <p:nvPr>
            <p:ph type="title"/>
          </p:nvPr>
        </p:nvSpPr>
        <p:spPr>
          <a:xfrm>
            <a:off x="398050" y="341525"/>
            <a:ext cx="10515600" cy="49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ENVIRONMENT - RecGym</a:t>
            </a:r>
            <a:endParaRPr sz="3550"/>
          </a:p>
        </p:txBody>
      </p:sp>
      <p:sp>
        <p:nvSpPr>
          <p:cNvPr id="136" name="Google Shape;136;g3aaadf4b83a_2_8"/>
          <p:cNvSpPr txBox="1"/>
          <p:nvPr>
            <p:ph idx="1" type="body"/>
          </p:nvPr>
        </p:nvSpPr>
        <p:spPr>
          <a:xfrm>
            <a:off x="398050" y="1222675"/>
            <a:ext cx="7682700" cy="545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RecGym Overview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Simulator for recommender interactions with evolving synthetic users.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Preferences shift over time; agent sees only clicks/skips/dwell.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Noisy, partially observable, non-stationary setting.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Supports single-item and slate actions.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Why RecGym for DQN / DDQN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Discrete actions suit Q-learning.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Sparse, delayed rewards reflect real recommenders.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DQN overestimates under noisy signals.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DDQN stabilizes by separating selection and evaluation.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Clearly exposes robustness differences.</a:t>
            </a:r>
            <a:br>
              <a:rPr lang="en-US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Key Outputs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Episode Reward: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Session-level engagement.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Epsilon: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Exploration rate.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Reward Curve: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Adaptation to preference shifts.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 u="sng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aaadf4b83a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4102" y="2269695"/>
            <a:ext cx="5109827" cy="3042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37d0bd64_1_28"/>
          <p:cNvSpPr txBox="1"/>
          <p:nvPr>
            <p:ph type="title"/>
          </p:nvPr>
        </p:nvSpPr>
        <p:spPr>
          <a:xfrm>
            <a:off x="165900" y="272725"/>
            <a:ext cx="11525100" cy="58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50"/>
              <a:t>Implementation – Deep RL Automation Pipeline</a:t>
            </a:r>
            <a:endParaRPr sz="3550"/>
          </a:p>
        </p:txBody>
      </p:sp>
      <p:pic>
        <p:nvPicPr>
          <p:cNvPr id="143" name="Google Shape;143;g3a837d0bd64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550" y="2025000"/>
            <a:ext cx="6865776" cy="4676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g3a837d0bd64_1_28"/>
          <p:cNvSpPr txBox="1"/>
          <p:nvPr/>
        </p:nvSpPr>
        <p:spPr>
          <a:xfrm>
            <a:off x="252950" y="1983625"/>
            <a:ext cx="3987300" cy="46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Automate Deep Reinforcement Learning training using GitHub Actions</a:t>
            </a:r>
            <a:endParaRPr sz="15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800">
                <a:solidFill>
                  <a:schemeClr val="dk1"/>
                </a:solidFill>
              </a:rPr>
            </a:br>
            <a:r>
              <a:rPr b="1" lang="en-US" sz="1500">
                <a:solidFill>
                  <a:schemeClr val="dk1"/>
                </a:solidFill>
              </a:rPr>
              <a:t> Supports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🎯 Algorithms: DQN, DDQN, Dueling-DQN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🌍 Environments: LunarLander, CartPole, RecGym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🧠 Approaches: Stable-Baselines3, Keras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🔽 </a:t>
            </a:r>
            <a:r>
              <a:rPr b="1" lang="en-US" sz="1500">
                <a:solidFill>
                  <a:schemeClr val="dk1"/>
                </a:solidFill>
              </a:rPr>
              <a:t>Outcome Outputs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Model checkpoints in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models/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Training video (best episode)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Reward/Loss plots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Evaluation summary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a837d0bd64_1_28"/>
          <p:cNvSpPr txBox="1"/>
          <p:nvPr/>
        </p:nvSpPr>
        <p:spPr>
          <a:xfrm>
            <a:off x="165900" y="1355425"/>
            <a:ext cx="41187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Pipeline Features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a837d0bd64_1_28"/>
          <p:cNvSpPr txBox="1"/>
          <p:nvPr/>
        </p:nvSpPr>
        <p:spPr>
          <a:xfrm>
            <a:off x="4795200" y="1376113"/>
            <a:ext cx="6865800" cy="40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Workflow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g3a837d0bd64_1_28"/>
          <p:cNvCxnSpPr/>
          <p:nvPr/>
        </p:nvCxnSpPr>
        <p:spPr>
          <a:xfrm>
            <a:off x="4534650" y="1624175"/>
            <a:ext cx="10500" cy="498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g3a837d0bd64_1_28"/>
          <p:cNvSpPr/>
          <p:nvPr/>
        </p:nvSpPr>
        <p:spPr>
          <a:xfrm>
            <a:off x="7307025" y="5794275"/>
            <a:ext cx="1813500" cy="583500"/>
          </a:xfrm>
          <a:prstGeom prst="wedgeEllipseCallout">
            <a:avLst>
              <a:gd fmla="val 97677" name="adj1"/>
              <a:gd fmla="val 6390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Execute Workflow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a3738c36_0_6"/>
          <p:cNvSpPr txBox="1"/>
          <p:nvPr>
            <p:ph type="title"/>
          </p:nvPr>
        </p:nvSpPr>
        <p:spPr>
          <a:xfrm>
            <a:off x="84325" y="182675"/>
            <a:ext cx="11889000" cy="90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50"/>
              <a:t>Implementation</a:t>
            </a:r>
            <a:r>
              <a:rPr lang="en-US" sz="3350"/>
              <a:t>: </a:t>
            </a:r>
            <a:r>
              <a:rPr lang="en-US" sz="3350">
                <a:solidFill>
                  <a:srgbClr val="31333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🤖 Deep Reinforcement Learning Dashboard</a:t>
            </a:r>
            <a:endParaRPr sz="3350"/>
          </a:p>
        </p:txBody>
      </p:sp>
      <p:sp>
        <p:nvSpPr>
          <p:cNvPr id="154" name="Google Shape;154;g3a9a3738c36_0_6"/>
          <p:cNvSpPr txBox="1"/>
          <p:nvPr/>
        </p:nvSpPr>
        <p:spPr>
          <a:xfrm>
            <a:off x="470325" y="2104450"/>
            <a:ext cx="57936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🖥 </a:t>
            </a:r>
            <a:r>
              <a:rPr b="1" lang="en-US" sz="1500">
                <a:solidFill>
                  <a:schemeClr val="dk1"/>
                </a:solidFill>
              </a:rPr>
              <a:t>Dashboard</a:t>
            </a:r>
            <a:r>
              <a:rPr lang="en-US" sz="1500">
                <a:solidFill>
                  <a:schemeClr val="dk1"/>
                </a:solidFill>
              </a:rPr>
              <a:t> - Live monitoring app:</a:t>
            </a:r>
            <a:br>
              <a:rPr lang="en-US" sz="1500">
                <a:solidFill>
                  <a:schemeClr val="dk1"/>
                </a:solidFill>
              </a:rPr>
            </a:br>
            <a:r>
              <a:rPr lang="en-US" sz="1500">
                <a:solidFill>
                  <a:schemeClr val="dk1"/>
                </a:solidFill>
              </a:rPr>
              <a:t> 🔗</a:t>
            </a:r>
            <a:r>
              <a:rPr lang="en-US" sz="15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500" u="sng">
                <a:solidFill>
                  <a:schemeClr val="hlink"/>
                </a:solidFill>
                <a:hlinkClick r:id="rId4"/>
              </a:rPr>
              <a:t>https://ai-autonomous.streamlit.app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📌 Purpose - </a:t>
            </a:r>
            <a:r>
              <a:rPr lang="en-US" sz="1500">
                <a:solidFill>
                  <a:schemeClr val="dk1"/>
                </a:solidFill>
              </a:rPr>
              <a:t>Track Deep Q-Learning experiment runs triggered via GitHub Actions.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5" name="Google Shape;155;g3a9a3738c36_0_6"/>
          <p:cNvSpPr txBox="1"/>
          <p:nvPr/>
        </p:nvSpPr>
        <p:spPr>
          <a:xfrm>
            <a:off x="6299952" y="1924650"/>
            <a:ext cx="5793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💡 Dashboard Benefits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Central place to review runs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Quickly jump to logs &amp; artifacts on GitHub Actions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No need to open GitHub manually each time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Simple monitoring for multiple experiments by multiple users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6" name="Google Shape;156;g3a9a3738c36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9262" y="3809813"/>
            <a:ext cx="7580300" cy="279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g3a9a3738c36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149" y="1399458"/>
            <a:ext cx="367325" cy="208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g3a9a3738c36_0_6"/>
          <p:cNvCxnSpPr/>
          <p:nvPr/>
        </p:nvCxnSpPr>
        <p:spPr>
          <a:xfrm flipH="1" rot="10800000">
            <a:off x="611000" y="1840788"/>
            <a:ext cx="9966900" cy="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59" name="Google Shape;159;g3a9a3738c36_0_6"/>
          <p:cNvCxnSpPr/>
          <p:nvPr/>
        </p:nvCxnSpPr>
        <p:spPr>
          <a:xfrm flipH="1" rot="10800000">
            <a:off x="2140925" y="3753600"/>
            <a:ext cx="74694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60" name="Google Shape;160;g3a9a3738c36_0_6"/>
          <p:cNvSpPr txBox="1"/>
          <p:nvPr/>
        </p:nvSpPr>
        <p:spPr>
          <a:xfrm>
            <a:off x="470325" y="1223875"/>
            <a:ext cx="60363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   </a:t>
            </a:r>
            <a:r>
              <a:rPr b="1" lang="en-US" sz="1500">
                <a:solidFill>
                  <a:schemeClr val="dk1"/>
                </a:solidFill>
              </a:rPr>
              <a:t>    </a:t>
            </a:r>
            <a:r>
              <a:rPr b="1" lang="en-US" sz="1500">
                <a:solidFill>
                  <a:schemeClr val="dk1"/>
                </a:solidFill>
              </a:rPr>
              <a:t>Github Repo</a:t>
            </a:r>
            <a:br>
              <a:rPr b="1" lang="en-US" sz="1500">
                <a:solidFill>
                  <a:schemeClr val="dk1"/>
                </a:solidFill>
              </a:rPr>
            </a:br>
            <a:r>
              <a:rPr b="1" lang="en-US" sz="1500">
                <a:solidFill>
                  <a:schemeClr val="dk1"/>
                </a:solidFill>
              </a:rPr>
              <a:t>        </a:t>
            </a:r>
            <a:r>
              <a:rPr b="1" lang="en-US" sz="15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1500" u="sng">
                <a:solidFill>
                  <a:schemeClr val="hlink"/>
                </a:solidFill>
                <a:hlinkClick r:id="rId8"/>
              </a:rPr>
              <a:t>https://github.com/ai-autonomous/dqn-project  </a:t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837d0bd64_1_33"/>
          <p:cNvSpPr txBox="1"/>
          <p:nvPr>
            <p:ph type="title"/>
          </p:nvPr>
        </p:nvSpPr>
        <p:spPr>
          <a:xfrm>
            <a:off x="525525" y="258900"/>
            <a:ext cx="10828200" cy="387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9"/>
              <a:t>RESULT SUMMARY - Training</a:t>
            </a:r>
            <a:endParaRPr sz="3559"/>
          </a:p>
        </p:txBody>
      </p:sp>
      <p:graphicFrame>
        <p:nvGraphicFramePr>
          <p:cNvPr id="166" name="Google Shape;166;g3a837d0bd64_1_33"/>
          <p:cNvGraphicFramePr/>
          <p:nvPr/>
        </p:nvGraphicFramePr>
        <p:xfrm>
          <a:off x="525525" y="844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{8F475F58-0557-4A96-8F34-FAF842EC6A0D}</a:tableStyleId>
              </a:tblPr>
              <a:tblGrid>
                <a:gridCol w="1484375"/>
                <a:gridCol w="1531825"/>
                <a:gridCol w="1117925"/>
                <a:gridCol w="2600275"/>
                <a:gridCol w="1123175"/>
                <a:gridCol w="1036650"/>
                <a:gridCol w="755875"/>
                <a:gridCol w="1771925"/>
              </a:tblGrid>
              <a:tr h="57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Env Name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Approach Name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Algo Name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Setup Details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Total Steps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Stage size 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Loss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lt1"/>
                          </a:solidFill>
                        </a:rPr>
                        <a:t>Rewards</a:t>
                      </a:r>
                      <a:endParaRPr b="1" sz="13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</a:tr>
              <a:tr h="5746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LunarLander-v3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Stable Baseline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DQN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Mem: 15Gi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Model Name: AMD EPYC 7763 64-Core Processor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CPU(s): 4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30L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20L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1L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2L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0.709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0.1650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258.79 ± 71.55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262.91 ± 50.10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</a:tr>
              <a:tr h="574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DDQN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Mem : 16 GB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Model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 :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AMD Ryzen 7 5800HS Radeon Graphics (3.20GHz)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5L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4L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50k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50k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100"/>
                        <a:t>1.21</a:t>
                      </a:r>
                      <a:r>
                        <a:rPr lang="en-US" sz="1100"/>
                        <a:t>09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100"/>
                        <a:t>1.13</a:t>
                      </a:r>
                      <a:r>
                        <a:rPr lang="en-US" sz="1100"/>
                        <a:t>00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227.84 +/- 3.08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251.17 +/- 0.95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</a:tr>
              <a:tr h="574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Dueling Network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Mem : 16 GB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Model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 :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AMD Ryzen 7 5800HS Radeon Graphics (3.20GHz)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1.5L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3L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50k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50k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0.6488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 0.5950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222.22 +/- 9.45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230.50 +/- 0.8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4CCCC"/>
                    </a:solidFill>
                  </a:tcPr>
                </a:tc>
              </a:tr>
              <a:tr h="57462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CartPole-v1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Stable Baseline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DQN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Mem: 15Gi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Model Name: AMD EPYC 7763 64-Core Processor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CPU(s): 4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50k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70k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10k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  5k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0.0085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0.0140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265.00 ± 13.10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  343.80 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± 7.57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</a:tr>
              <a:tr h="574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DDQN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Mem: 2.9 GB System RAM + 0.4 GB GPU RAM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Model Name: Nvidia A100</a:t>
                      </a:r>
                      <a:endParaRPr sz="1100"/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GPUs: 1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1L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10k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0.8734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277.10 ± 51.56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</a:tr>
              <a:tr h="574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Dueling Network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Mem: 3.8 GB System RAM + 0.6 GB GPU RAM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Model Name: Nvidia A100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GPUs: 1</a:t>
                      </a:r>
                      <a:endParaRPr sz="1100"/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1L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10k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0.5724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224.05 ± 28.25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C9DAF8"/>
                    </a:solidFill>
                  </a:tcPr>
                </a:tc>
              </a:tr>
              <a:tr h="57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RecGym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Stable Baseline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DQN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Mem : 16 GB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Model</a:t>
                      </a: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 :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Apple M4 , 10 core Processor.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3</a:t>
                      </a:r>
                      <a:r>
                        <a:rPr lang="en-US" sz="1100"/>
                        <a:t>0K</a:t>
                      </a:r>
                      <a:endParaRPr sz="1100"/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10k</a:t>
                      </a:r>
                      <a:endParaRPr sz="1100"/>
                    </a:p>
                  </a:txBody>
                  <a:tcPr marT="63500" marB="63500" marR="63500" marL="63500" anchor="ctr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-NA-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–1.4 to +2.8</a:t>
                      </a:r>
                      <a:endParaRPr sz="1100"/>
                    </a:p>
                  </a:txBody>
                  <a:tcPr marT="63500" marB="63500" marR="63500" marL="63500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93381a652_0_17"/>
          <p:cNvSpPr txBox="1"/>
          <p:nvPr>
            <p:ph type="title"/>
          </p:nvPr>
        </p:nvSpPr>
        <p:spPr>
          <a:xfrm>
            <a:off x="814500" y="188075"/>
            <a:ext cx="10563000" cy="55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9"/>
              <a:t>RESULT SUMMARY - </a:t>
            </a:r>
            <a:r>
              <a:rPr lang="en-US" sz="3559"/>
              <a:t>Evaluation</a:t>
            </a:r>
            <a:endParaRPr sz="3559"/>
          </a:p>
        </p:txBody>
      </p:sp>
      <p:graphicFrame>
        <p:nvGraphicFramePr>
          <p:cNvPr id="172" name="Google Shape;172;g3a93381a652_0_17"/>
          <p:cNvGraphicFramePr/>
          <p:nvPr/>
        </p:nvGraphicFramePr>
        <p:xfrm>
          <a:off x="838188" y="130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{8F475F58-0557-4A96-8F34-FAF842EC6A0D}</a:tableStyleId>
              </a:tblPr>
              <a:tblGrid>
                <a:gridCol w="1799250"/>
                <a:gridCol w="1341275"/>
                <a:gridCol w="1259450"/>
                <a:gridCol w="1259450"/>
                <a:gridCol w="1308550"/>
                <a:gridCol w="1570275"/>
                <a:gridCol w="817825"/>
                <a:gridCol w="158655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Env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Approach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Algo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SOLVED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GOOD RUN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FAIL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TIME LIMIT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>
                    <a:solidFill>
                      <a:schemeClr val="dk1"/>
                    </a:solidFill>
                  </a:tcPr>
                </a:tc>
              </a:tr>
              <a:tr h="100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CartPole-v1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Stable Baseline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DQN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50k</a:t>
                      </a:r>
                      <a:endParaRPr sz="11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70k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  <a:tr h="285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DDQN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10k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  <a:tr h="2857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Dueling Network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10k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  <p:graphicFrame>
        <p:nvGraphicFramePr>
          <p:cNvPr id="173" name="Google Shape;173;g3a93381a652_0_17"/>
          <p:cNvGraphicFramePr/>
          <p:nvPr/>
        </p:nvGraphicFramePr>
        <p:xfrm>
          <a:off x="838188" y="364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{8F475F58-0557-4A96-8F34-FAF842EC6A0D}</a:tableStyleId>
              </a:tblPr>
              <a:tblGrid>
                <a:gridCol w="1146575"/>
                <a:gridCol w="1191900"/>
                <a:gridCol w="1350075"/>
                <a:gridCol w="2518975"/>
                <a:gridCol w="1111775"/>
                <a:gridCol w="876150"/>
                <a:gridCol w="1160625"/>
                <a:gridCol w="1586575"/>
              </a:tblGrid>
              <a:tr h="380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Env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Approach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Algo Name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LANDED_OK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CRASH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ASLEEP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</a:rPr>
                        <a:t>OUT_OF_BOUNDS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chemeClr val="dk1"/>
                    </a:solidFill>
                  </a:tcPr>
                </a:tc>
              </a:tr>
              <a:tr h="38005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LunarLander-v3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Stable Baseline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DQN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●"/>
                      </a:pPr>
                      <a:r>
                        <a:rPr lang="en-US" sz="1100"/>
                        <a:t>30L total/ 1L stage = 30</a:t>
                      </a:r>
                      <a:endParaRPr sz="1100"/>
                    </a:p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20L total/ 2L stage =  20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19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15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1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2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3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0</a:t>
                      </a:r>
                      <a:endParaRPr sz="1100"/>
                    </a:p>
                  </a:txBody>
                  <a:tcPr marT="63500" marB="63500" marR="63500" marL="63500" anchor="ctr"/>
                </a:tc>
              </a:tr>
              <a:tr h="3116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DDQN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50L total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40L total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/>
                    </a:p>
                  </a:txBody>
                  <a:tcPr marT="63500" marB="63500" marR="63500" marL="63500" anchor="ctr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6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Keras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Dueling Network</a:t>
                      </a:r>
                      <a:endParaRPr sz="1100"/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1.5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L total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-298450" lvl="0" marL="4572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40L total</a:t>
                      </a:r>
                      <a:endParaRPr sz="1100"/>
                    </a:p>
                  </a:txBody>
                  <a:tcPr marT="63500" marB="63500" marR="63500" marL="6350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0</a:t>
                      </a:r>
                      <a:endParaRPr sz="1100"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g3a93381a652_0_17"/>
          <p:cNvSpPr txBox="1"/>
          <p:nvPr/>
        </p:nvSpPr>
        <p:spPr>
          <a:xfrm>
            <a:off x="838200" y="5753325"/>
            <a:ext cx="1107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LANDED_OK - (Left = 1 and Right = 1)  | C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RASH - (Game_over)  | OUT_OF_BOUND - (X_POS  &gt;=  2.5)  | ASLEEP - (Left != 1 or Right != 1)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a93381a652_0_17"/>
          <p:cNvSpPr txBox="1"/>
          <p:nvPr/>
        </p:nvSpPr>
        <p:spPr>
          <a:xfrm>
            <a:off x="838200" y="2884750"/>
            <a:ext cx="110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SOLVED – (truncated == True and steps == max_steps) | GOOD_RUN – (terminated == True and steps ≥ 195) | TIME_LIMIT – (truncated == True and steps &lt; max_steps) | FAIL – (terminated == True and steps &lt; 195) | UNKNOWN – (anything else)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93381a652_0_11"/>
          <p:cNvSpPr txBox="1"/>
          <p:nvPr>
            <p:ph type="title"/>
          </p:nvPr>
        </p:nvSpPr>
        <p:spPr>
          <a:xfrm>
            <a:off x="354125" y="188075"/>
            <a:ext cx="10515600" cy="431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0"/>
              <a:t>RESULT SUMMARY - Cartpole-v1</a:t>
            </a:r>
            <a:endParaRPr sz="3550"/>
          </a:p>
        </p:txBody>
      </p:sp>
      <p:pic>
        <p:nvPicPr>
          <p:cNvPr id="181" name="Google Shape;181;g3a93381a652_0_11"/>
          <p:cNvPicPr preferRelativeResize="0"/>
          <p:nvPr/>
        </p:nvPicPr>
        <p:blipFill rotWithShape="1">
          <a:blip r:embed="rId3">
            <a:alphaModFix/>
          </a:blip>
          <a:srcRect b="0" l="0" r="49984" t="0"/>
          <a:stretch/>
        </p:blipFill>
        <p:spPr>
          <a:xfrm>
            <a:off x="6854525" y="2468716"/>
            <a:ext cx="4299726" cy="201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a93381a652_0_11"/>
          <p:cNvPicPr preferRelativeResize="0"/>
          <p:nvPr/>
        </p:nvPicPr>
        <p:blipFill rotWithShape="1">
          <a:blip r:embed="rId3">
            <a:alphaModFix/>
          </a:blip>
          <a:srcRect b="0" l="49967" r="0" t="0"/>
          <a:stretch/>
        </p:blipFill>
        <p:spPr>
          <a:xfrm>
            <a:off x="1275175" y="2558259"/>
            <a:ext cx="3978325" cy="201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a93381a652_0_11"/>
          <p:cNvPicPr preferRelativeResize="0"/>
          <p:nvPr/>
        </p:nvPicPr>
        <p:blipFill rotWithShape="1">
          <a:blip r:embed="rId4">
            <a:alphaModFix/>
          </a:blip>
          <a:srcRect b="0" l="0" r="49824" t="0"/>
          <a:stretch/>
        </p:blipFill>
        <p:spPr>
          <a:xfrm>
            <a:off x="6854525" y="4552216"/>
            <a:ext cx="4299726" cy="2138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a93381a652_0_11"/>
          <p:cNvPicPr preferRelativeResize="0"/>
          <p:nvPr/>
        </p:nvPicPr>
        <p:blipFill rotWithShape="1">
          <a:blip r:embed="rId4">
            <a:alphaModFix/>
          </a:blip>
          <a:srcRect b="0" l="49824" r="0" t="0"/>
          <a:stretch/>
        </p:blipFill>
        <p:spPr>
          <a:xfrm>
            <a:off x="1275175" y="4803075"/>
            <a:ext cx="3978325" cy="19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a93381a652_0_11"/>
          <p:cNvSpPr txBox="1"/>
          <p:nvPr/>
        </p:nvSpPr>
        <p:spPr>
          <a:xfrm>
            <a:off x="354125" y="1369250"/>
            <a:ext cx="5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a93381a652_0_11"/>
          <p:cNvSpPr txBox="1"/>
          <p:nvPr/>
        </p:nvSpPr>
        <p:spPr>
          <a:xfrm>
            <a:off x="354125" y="3386650"/>
            <a:ext cx="66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a93381a652_0_11"/>
          <p:cNvSpPr txBox="1"/>
          <p:nvPr/>
        </p:nvSpPr>
        <p:spPr>
          <a:xfrm>
            <a:off x="354125" y="5466000"/>
            <a:ext cx="83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Dueling</a:t>
            </a:r>
            <a:b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a93381a652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4525" y="687073"/>
            <a:ext cx="4299724" cy="187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a93381a652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1700" y="772175"/>
            <a:ext cx="3671800" cy="170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8f4d26d27_0_68"/>
          <p:cNvSpPr txBox="1"/>
          <p:nvPr>
            <p:ph type="title"/>
          </p:nvPr>
        </p:nvSpPr>
        <p:spPr>
          <a:xfrm>
            <a:off x="354125" y="142925"/>
            <a:ext cx="10515600" cy="596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550"/>
              <a:t>RESULT SUMMARY - LunarLander-v3</a:t>
            </a:r>
            <a:endParaRPr sz="3550"/>
          </a:p>
        </p:txBody>
      </p:sp>
      <p:pic>
        <p:nvPicPr>
          <p:cNvPr id="195" name="Google Shape;195;g3a8f4d26d27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725" y="2933625"/>
            <a:ext cx="5087424" cy="17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a8f4d26d27_0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5575" y="2933625"/>
            <a:ext cx="4632350" cy="165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8f4d26d27_0_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6150" y="4697625"/>
            <a:ext cx="4948200" cy="209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a8f4d26d27_0_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9763" y="4703950"/>
            <a:ext cx="4703974" cy="209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a8f4d26d27_0_68"/>
          <p:cNvSpPr txBox="1"/>
          <p:nvPr/>
        </p:nvSpPr>
        <p:spPr>
          <a:xfrm>
            <a:off x="354125" y="1369250"/>
            <a:ext cx="59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a8f4d26d27_0_68"/>
          <p:cNvSpPr txBox="1"/>
          <p:nvPr/>
        </p:nvSpPr>
        <p:spPr>
          <a:xfrm>
            <a:off x="354125" y="3386650"/>
            <a:ext cx="66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a8f4d26d27_0_68"/>
          <p:cNvSpPr txBox="1"/>
          <p:nvPr/>
        </p:nvSpPr>
        <p:spPr>
          <a:xfrm>
            <a:off x="354125" y="5466000"/>
            <a:ext cx="83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Dueling</a:t>
            </a:r>
            <a:b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g3a8f4d26d27_0_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0525" y="892025"/>
            <a:ext cx="5013824" cy="196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a8f4d26d27_0_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85575" y="892025"/>
            <a:ext cx="4575226" cy="19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a134df5ee_5_9"/>
          <p:cNvSpPr txBox="1"/>
          <p:nvPr>
            <p:ph type="title"/>
          </p:nvPr>
        </p:nvSpPr>
        <p:spPr>
          <a:xfrm>
            <a:off x="838200" y="328025"/>
            <a:ext cx="10515600" cy="520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550"/>
              <a:t>RESULT SUMMARY - RecGym</a:t>
            </a:r>
            <a:endParaRPr sz="3550"/>
          </a:p>
        </p:txBody>
      </p:sp>
      <p:pic>
        <p:nvPicPr>
          <p:cNvPr id="209" name="Google Shape;209;g3aa134df5ee_5_9" title="Screenshot 2025-11-26 at 7.36.4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900" y="1960875"/>
            <a:ext cx="5405226" cy="35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aa134df5ee_5_9"/>
          <p:cNvSpPr txBox="1"/>
          <p:nvPr/>
        </p:nvSpPr>
        <p:spPr>
          <a:xfrm>
            <a:off x="8766050" y="1418150"/>
            <a:ext cx="66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aa134df5ee_5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75" y="1960875"/>
            <a:ext cx="5159124" cy="345012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aa134df5ee_5_9"/>
          <p:cNvSpPr txBox="1"/>
          <p:nvPr/>
        </p:nvSpPr>
        <p:spPr>
          <a:xfrm>
            <a:off x="3042088" y="1418150"/>
            <a:ext cx="66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DQN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aaadf4b83a_0_13"/>
          <p:cNvPicPr preferRelativeResize="0"/>
          <p:nvPr/>
        </p:nvPicPr>
        <p:blipFill rotWithShape="1">
          <a:blip r:embed="rId3">
            <a:alphaModFix/>
          </a:blip>
          <a:srcRect b="100000" l="-6840" r="6840" t="-100000"/>
          <a:stretch/>
        </p:blipFill>
        <p:spPr>
          <a:xfrm>
            <a:off x="152400" y="1069575"/>
            <a:ext cx="105156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aaadf4b83a_0_13"/>
          <p:cNvPicPr preferRelativeResize="0"/>
          <p:nvPr/>
        </p:nvPicPr>
        <p:blipFill rotWithShape="1">
          <a:blip r:embed="rId3">
            <a:alphaModFix/>
          </a:blip>
          <a:srcRect b="0" l="-3260" r="3260" t="0"/>
          <a:stretch/>
        </p:blipFill>
        <p:spPr>
          <a:xfrm>
            <a:off x="495875" y="304800"/>
            <a:ext cx="105156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aaadf4b83a_0_13"/>
          <p:cNvSpPr txBox="1"/>
          <p:nvPr>
            <p:ph idx="1" type="body"/>
          </p:nvPr>
        </p:nvSpPr>
        <p:spPr>
          <a:xfrm>
            <a:off x="398050" y="1222675"/>
            <a:ext cx="11015400" cy="474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Project</a:t>
            </a:r>
            <a:endParaRPr sz="22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Code - </a:t>
            </a: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https://github.com/ai-autonomous/dqn-project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Dashboard - </a:t>
            </a: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https://ai-autonomous.streamlit.app/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GitAction - </a:t>
            </a: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https://github.com/ai-autonomous/dqn-project/actions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Workflow - </a:t>
            </a: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https://github.com/ai-autonomous/dqn-project/blob/main/.github/workflows/train-rl-runner.yml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External </a:t>
            </a:r>
            <a:endParaRPr sz="22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https://docs.pytorch.org/tutorials/intermediate/reinforcement_q_learning.html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https://stable-baselines3.readthedocs.io/en/master/modules/dqn.html#module-stable_baselines3.dqn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https://arxiv.org/abs/1509.06461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https://gymnasium.farama.org/environments/classic_control/cart_pole/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https://gymnasium.farama.org/environments/box2d/lunar_lander/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https://github.com/hakuhodo-technologies/scope-rl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en-US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https://arxiv.org/abs/1101.2883</a:t>
            </a:r>
            <a:endParaRPr sz="1500" u="sng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g3a837d0bd64_1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750" y="147650"/>
            <a:ext cx="6237925" cy="39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a837d0bd64_1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9800" y="3946975"/>
            <a:ext cx="5119624" cy="26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2024-09-20T15:28:18Z</dcterms:created>
  <dc:creator>dell</dc:creator>
</cp:coreProperties>
</file>